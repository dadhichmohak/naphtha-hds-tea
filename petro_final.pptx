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roxima Nova Bold" charset="1" panose="02000506030000020004"/>
      <p:regular r:id="rId21"/>
    </p:embeddedFont>
    <p:embeddedFont>
      <p:font typeface="Nunito" charset="1" panose="00000000000000000000"/>
      <p:regular r:id="rId22"/>
    </p:embeddedFont>
    <p:embeddedFont>
      <p:font typeface="Open Sans Bold" charset="1" panose="020B0806030504020204"/>
      <p:regular r:id="rId23"/>
    </p:embeddedFont>
    <p:embeddedFont>
      <p:font typeface="Open Sans" charset="1" panose="020B0606030504020204"/>
      <p:regular r:id="rId24"/>
    </p:embeddedFont>
    <p:embeddedFont>
      <p:font typeface="Nunito Bold" charset="1" panose="00000000000000000000"/>
      <p:regular r:id="rId25"/>
    </p:embeddedFont>
    <p:embeddedFont>
      <p:font typeface="Canva Sans" charset="1" panose="020B05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13866" y="1845191"/>
            <a:ext cx="14660268" cy="474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NAPHTHA HYD</a:t>
            </a: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RODESULFURIZATION</a:t>
            </a:r>
          </a:p>
          <a:p>
            <a:pPr algn="ctr">
              <a:lnSpc>
                <a:spcPts val="12599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5854559" y="5396771"/>
            <a:ext cx="6578882" cy="1023974"/>
            <a:chOff x="0" y="0"/>
            <a:chExt cx="1732710" cy="2696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2710" cy="269689"/>
            </a:xfrm>
            <a:custGeom>
              <a:avLst/>
              <a:gdLst/>
              <a:ahLst/>
              <a:cxnLst/>
              <a:rect r="r" b="b" t="t" l="l"/>
              <a:pathLst>
                <a:path h="269689" w="1732710">
                  <a:moveTo>
                    <a:pt x="60016" y="0"/>
                  </a:moveTo>
                  <a:lnTo>
                    <a:pt x="1672694" y="0"/>
                  </a:lnTo>
                  <a:cubicBezTo>
                    <a:pt x="1688611" y="0"/>
                    <a:pt x="1703876" y="6323"/>
                    <a:pt x="1715132" y="17578"/>
                  </a:cubicBezTo>
                  <a:cubicBezTo>
                    <a:pt x="1726387" y="28833"/>
                    <a:pt x="1732710" y="44099"/>
                    <a:pt x="1732710" y="60016"/>
                  </a:cubicBezTo>
                  <a:lnTo>
                    <a:pt x="1732710" y="209673"/>
                  </a:lnTo>
                  <a:cubicBezTo>
                    <a:pt x="1732710" y="242819"/>
                    <a:pt x="1705840" y="269689"/>
                    <a:pt x="1672694" y="269689"/>
                  </a:cubicBezTo>
                  <a:lnTo>
                    <a:pt x="60016" y="269689"/>
                  </a:lnTo>
                  <a:cubicBezTo>
                    <a:pt x="44099" y="269689"/>
                    <a:pt x="28833" y="263366"/>
                    <a:pt x="17578" y="252110"/>
                  </a:cubicBezTo>
                  <a:cubicBezTo>
                    <a:pt x="6323" y="240855"/>
                    <a:pt x="0" y="225590"/>
                    <a:pt x="0" y="209673"/>
                  </a:cubicBezTo>
                  <a:lnTo>
                    <a:pt x="0" y="60016"/>
                  </a:lnTo>
                  <a:cubicBezTo>
                    <a:pt x="0" y="44099"/>
                    <a:pt x="6323" y="28833"/>
                    <a:pt x="17578" y="17578"/>
                  </a:cubicBezTo>
                  <a:cubicBezTo>
                    <a:pt x="28833" y="6323"/>
                    <a:pt x="44099" y="0"/>
                    <a:pt x="60016" y="0"/>
                  </a:cubicBezTo>
                  <a:close/>
                </a:path>
              </a:pathLst>
            </a:custGeom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45186" y="5480133"/>
            <a:ext cx="57976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By Group-3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66376" y="7188212"/>
            <a:ext cx="3955249" cy="207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BY: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1). Aarav Gupta(25%)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2). Mitanshu Kumawat (25%)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3). Mohak Dadhich(25%)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4). Priyanshu Patel(25%)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34912" y="989512"/>
            <a:ext cx="1011776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2233" y="2593964"/>
            <a:ext cx="13397709" cy="702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488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Obje</a:t>
            </a:r>
            <a:r>
              <a:rPr lang="en-US" sz="2488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</a:t>
            </a:r>
            <a:r>
              <a:rPr lang="en-US" sz="2488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</a:t>
            </a:r>
            <a:r>
              <a:rPr lang="en-US" sz="2488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</a:t>
            </a:r>
            <a:r>
              <a:rPr lang="en-US" sz="2488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ve</a:t>
            </a:r>
          </a:p>
          <a:p>
            <a:pPr algn="l" marL="537291" indent="-268646" lvl="1">
              <a:lnSpc>
                <a:spcPts val="3484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co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mp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fro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na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phtha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 m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et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fu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qua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lit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rds</a:t>
            </a:r>
          </a:p>
          <a:p>
            <a:pPr algn="l" marL="537291" indent="-268646" lvl="1">
              <a:lnSpc>
                <a:spcPts val="3484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nve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rt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or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gano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sul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fu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 c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ompo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ds i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H₂S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ng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hyd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og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</a:t>
            </a:r>
          </a:p>
          <a:p>
            <a:pPr algn="l">
              <a:lnSpc>
                <a:spcPts val="3484"/>
              </a:lnSpc>
            </a:pPr>
          </a:p>
          <a:p>
            <a:pPr algn="l">
              <a:lnSpc>
                <a:spcPts val="3484"/>
              </a:lnSpc>
            </a:pP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488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Importance</a:t>
            </a:r>
          </a:p>
          <a:p>
            <a:pPr algn="l" marL="537291" indent="-268646" lvl="1">
              <a:lnSpc>
                <a:spcPts val="3484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Prevents catalyst poisoning in downstream units</a:t>
            </a:r>
          </a:p>
          <a:p>
            <a:pPr algn="l" marL="537291" indent="-268646" lvl="1">
              <a:lnSpc>
                <a:spcPts val="3484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Reduces SO₂ emissions → environmental compliance</a:t>
            </a:r>
          </a:p>
          <a:p>
            <a:pPr algn="l" marL="537291" indent="-268646" lvl="1">
              <a:lnSpc>
                <a:spcPts val="3484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Improves fuel stability and quality</a:t>
            </a:r>
          </a:p>
          <a:p>
            <a:pPr algn="l">
              <a:lnSpc>
                <a:spcPts val="3484"/>
              </a:lnSpc>
            </a:pPr>
          </a:p>
          <a:p>
            <a:pPr algn="l">
              <a:lnSpc>
                <a:spcPts val="3484"/>
              </a:lnSpc>
            </a:pPr>
            <a:r>
              <a:rPr lang="en-US" sz="2488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Simulation Tool</a:t>
            </a:r>
          </a:p>
          <a:p>
            <a:pPr algn="l" marL="537291" indent="-268646" lvl="1">
              <a:lnSpc>
                <a:spcPts val="3484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Aspen Plus V14</a:t>
            </a:r>
          </a:p>
          <a:p>
            <a:pPr algn="l">
              <a:lnSpc>
                <a:spcPts val="3484"/>
              </a:lnSpc>
            </a:pPr>
          </a:p>
          <a:p>
            <a:pPr algn="l">
              <a:lnSpc>
                <a:spcPts val="3484"/>
              </a:lnSpc>
            </a:pPr>
            <a:r>
              <a:rPr lang="en-US" sz="248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</a:p>
          <a:p>
            <a:pPr algn="l">
              <a:lnSpc>
                <a:spcPts val="3484"/>
              </a:lnSpc>
            </a:pPr>
          </a:p>
          <a:p>
            <a:pPr algn="l">
              <a:lnSpc>
                <a:spcPts val="3484"/>
              </a:lnSpc>
            </a:pPr>
          </a:p>
          <a:p>
            <a:pPr algn="l">
              <a:lnSpc>
                <a:spcPts val="3484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3840" y="7829629"/>
            <a:ext cx="8620718" cy="1927396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646988" y="7733956"/>
            <a:ext cx="1386602" cy="42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6"/>
              </a:lnSpc>
              <a:spcBef>
                <a:spcPct val="0"/>
              </a:spcBef>
            </a:pPr>
            <a:r>
              <a:rPr lang="en-US" b="true" sz="249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047594" y="2860664"/>
            <a:ext cx="3713523" cy="3237824"/>
          </a:xfrm>
          <a:custGeom>
            <a:avLst/>
            <a:gdLst/>
            <a:ahLst/>
            <a:cxnLst/>
            <a:rect r="r" b="b" t="t" l="l"/>
            <a:pathLst>
              <a:path h="3237824" w="3713523">
                <a:moveTo>
                  <a:pt x="0" y="0"/>
                </a:moveTo>
                <a:lnTo>
                  <a:pt x="3713523" y="0"/>
                </a:lnTo>
                <a:lnTo>
                  <a:pt x="3713523" y="3237824"/>
                </a:lnTo>
                <a:lnTo>
                  <a:pt x="0" y="3237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2855837"/>
            <a:ext cx="3713523" cy="3237824"/>
          </a:xfrm>
          <a:custGeom>
            <a:avLst/>
            <a:gdLst/>
            <a:ahLst/>
            <a:cxnLst/>
            <a:rect r="r" b="b" t="t" l="l"/>
            <a:pathLst>
              <a:path h="3237824" w="3713523">
                <a:moveTo>
                  <a:pt x="0" y="0"/>
                </a:moveTo>
                <a:lnTo>
                  <a:pt x="3713523" y="0"/>
                </a:lnTo>
                <a:lnTo>
                  <a:pt x="3713523" y="3237824"/>
                </a:lnTo>
                <a:lnTo>
                  <a:pt x="0" y="3237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6795171"/>
            <a:ext cx="3713523" cy="3237824"/>
          </a:xfrm>
          <a:custGeom>
            <a:avLst/>
            <a:gdLst/>
            <a:ahLst/>
            <a:cxnLst/>
            <a:rect r="r" b="b" t="t" l="l"/>
            <a:pathLst>
              <a:path h="3237824" w="3713523">
                <a:moveTo>
                  <a:pt x="0" y="0"/>
                </a:moveTo>
                <a:lnTo>
                  <a:pt x="3713523" y="0"/>
                </a:lnTo>
                <a:lnTo>
                  <a:pt x="3713523" y="3237824"/>
                </a:lnTo>
                <a:lnTo>
                  <a:pt x="0" y="3237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47594" y="6795171"/>
            <a:ext cx="3713523" cy="3237824"/>
          </a:xfrm>
          <a:custGeom>
            <a:avLst/>
            <a:gdLst/>
            <a:ahLst/>
            <a:cxnLst/>
            <a:rect r="r" b="b" t="t" l="l"/>
            <a:pathLst>
              <a:path h="3237824" w="3713523">
                <a:moveTo>
                  <a:pt x="0" y="0"/>
                </a:moveTo>
                <a:lnTo>
                  <a:pt x="3713523" y="0"/>
                </a:lnTo>
                <a:lnTo>
                  <a:pt x="3713523" y="3237824"/>
                </a:lnTo>
                <a:lnTo>
                  <a:pt x="0" y="3237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226294" y="4194399"/>
            <a:ext cx="1452529" cy="570354"/>
          </a:xfrm>
          <a:custGeom>
            <a:avLst/>
            <a:gdLst/>
            <a:ahLst/>
            <a:cxnLst/>
            <a:rect r="r" b="b" t="t" l="l"/>
            <a:pathLst>
              <a:path h="570354" w="1452529">
                <a:moveTo>
                  <a:pt x="0" y="0"/>
                </a:moveTo>
                <a:lnTo>
                  <a:pt x="1452529" y="0"/>
                </a:lnTo>
                <a:lnTo>
                  <a:pt x="1452529" y="570355"/>
                </a:lnTo>
                <a:lnTo>
                  <a:pt x="0" y="570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85116" y="1084187"/>
            <a:ext cx="1011776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PROCESS 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16495" y="3132106"/>
            <a:ext cx="3375722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Feed P</a:t>
            </a: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reparation &amp; Preheating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Naphtha pumped from 2 → 41 bar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Mixed with hydrogen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Heated to 350°C in two stages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312901" y="3127279"/>
            <a:ext cx="3375722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Reaction Section (RPlug R</a:t>
            </a: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eactor)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Plug Flow Reactor (PFR)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Operating at 350°C, 40 bar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Sulfur compoun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ds → converted to H₂S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312901" y="7066613"/>
            <a:ext cx="3210715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Separation Section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Flash Drum: s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eparates gas and liquid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Absorber: removes H₂S using amine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Distillation Co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lumn: purifie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final naphtha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216495" y="7066613"/>
            <a:ext cx="3375722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Recycle &amp; Purge Syst</a:t>
            </a: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Hydrogen-rich gas recycled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10% purge to prevent inert b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ui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ldup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-10800000">
            <a:off x="7226294" y="8128906"/>
            <a:ext cx="1452529" cy="570354"/>
          </a:xfrm>
          <a:custGeom>
            <a:avLst/>
            <a:gdLst/>
            <a:ahLst/>
            <a:cxnLst/>
            <a:rect r="r" b="b" t="t" l="l"/>
            <a:pathLst>
              <a:path h="570354" w="1452529">
                <a:moveTo>
                  <a:pt x="0" y="0"/>
                </a:moveTo>
                <a:lnTo>
                  <a:pt x="1452529" y="0"/>
                </a:lnTo>
                <a:lnTo>
                  <a:pt x="1452529" y="570354"/>
                </a:lnTo>
                <a:lnTo>
                  <a:pt x="0" y="570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4514328" y="6330540"/>
            <a:ext cx="780056" cy="306299"/>
          </a:xfrm>
          <a:custGeom>
            <a:avLst/>
            <a:gdLst/>
            <a:ahLst/>
            <a:cxnLst/>
            <a:rect r="r" b="b" t="t" l="l"/>
            <a:pathLst>
              <a:path h="306299" w="780056">
                <a:moveTo>
                  <a:pt x="0" y="0"/>
                </a:moveTo>
                <a:lnTo>
                  <a:pt x="780056" y="0"/>
                </a:lnTo>
                <a:lnTo>
                  <a:pt x="780056" y="306299"/>
                </a:lnTo>
                <a:lnTo>
                  <a:pt x="0" y="306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10610733" y="6291267"/>
            <a:ext cx="780056" cy="306299"/>
          </a:xfrm>
          <a:custGeom>
            <a:avLst/>
            <a:gdLst/>
            <a:ahLst/>
            <a:cxnLst/>
            <a:rect r="r" b="b" t="t" l="l"/>
            <a:pathLst>
              <a:path h="306299" w="780056">
                <a:moveTo>
                  <a:pt x="0" y="0"/>
                </a:moveTo>
                <a:lnTo>
                  <a:pt x="780057" y="0"/>
                </a:lnTo>
                <a:lnTo>
                  <a:pt x="780057" y="306299"/>
                </a:lnTo>
                <a:lnTo>
                  <a:pt x="0" y="306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16710" y="2855837"/>
            <a:ext cx="16482023" cy="6570979"/>
          </a:xfrm>
          <a:custGeom>
            <a:avLst/>
            <a:gdLst/>
            <a:ahLst/>
            <a:cxnLst/>
            <a:rect r="r" b="b" t="t" l="l"/>
            <a:pathLst>
              <a:path h="6570979" w="16482023">
                <a:moveTo>
                  <a:pt x="0" y="0"/>
                </a:moveTo>
                <a:lnTo>
                  <a:pt x="16482023" y="0"/>
                </a:lnTo>
                <a:lnTo>
                  <a:pt x="16482023" y="6570979"/>
                </a:lnTo>
                <a:lnTo>
                  <a:pt x="0" y="6570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10602" y="1230454"/>
            <a:ext cx="1011776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PROCESS FLOW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09333" y="80596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19666" y="910988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606630" y="3279634"/>
            <a:ext cx="10597992" cy="4186207"/>
          </a:xfrm>
          <a:custGeom>
            <a:avLst/>
            <a:gdLst/>
            <a:ahLst/>
            <a:cxnLst/>
            <a:rect r="r" b="b" t="t" l="l"/>
            <a:pathLst>
              <a:path h="4186207" w="10597992">
                <a:moveTo>
                  <a:pt x="0" y="0"/>
                </a:moveTo>
                <a:lnTo>
                  <a:pt x="10597992" y="0"/>
                </a:lnTo>
                <a:lnTo>
                  <a:pt x="10597992" y="4186207"/>
                </a:lnTo>
                <a:lnTo>
                  <a:pt x="0" y="4186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86854" y="857250"/>
            <a:ext cx="10117768" cy="154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SENSITIVITY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06630" y="7593334"/>
            <a:ext cx="11950394" cy="1664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H₂S absorpt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ion incr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eas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sharp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ly with a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mine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flow up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 ~100 kmol/hr du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 to gr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eater solvent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availabi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lit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y,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reachi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ng ne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r-c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ompl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rem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ov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l.</a:t>
            </a:r>
          </a:p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• Bey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on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 this p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oint, performance plateaus and slightly declines as the system becomes H₂S-limited and dilution effects occur at high L/V ratios.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06630" y="2589220"/>
            <a:ext cx="9026516" cy="10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H₂S Absorpt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ion v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s. L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ean Am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ine Flow Rate</a:t>
            </a:r>
          </a:p>
          <a:p>
            <a:pPr algn="l">
              <a:lnSpc>
                <a:spcPts val="444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85847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98733" y="89977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33028" y="2574912"/>
            <a:ext cx="11301259" cy="4478124"/>
          </a:xfrm>
          <a:custGeom>
            <a:avLst/>
            <a:gdLst/>
            <a:ahLst/>
            <a:cxnLst/>
            <a:rect r="r" b="b" t="t" l="l"/>
            <a:pathLst>
              <a:path h="4478124" w="11301259">
                <a:moveTo>
                  <a:pt x="0" y="0"/>
                </a:moveTo>
                <a:lnTo>
                  <a:pt x="11301259" y="0"/>
                </a:lnTo>
                <a:lnTo>
                  <a:pt x="11301259" y="4478124"/>
                </a:lnTo>
                <a:lnTo>
                  <a:pt x="0" y="4478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33028" y="7364453"/>
            <a:ext cx="12590077" cy="335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Increasing amine temperature reduces H₂S absorpt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ion bec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aus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 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exothermic react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ion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shi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fts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backward,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low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ering solvent lo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ading capac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y.</a:t>
            </a:r>
          </a:p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• Hi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gher te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mp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era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tu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 a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lso decreases CH₄ 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olubility (more CH₄ overhead) while H₂ changes slightly due to multicomponent equilibrium effects.</a:t>
            </a: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33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233028" y="1831962"/>
            <a:ext cx="10674829" cy="10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Absorber Perf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ormance v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s. L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ean Am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ine Temperature</a:t>
            </a:r>
          </a:p>
          <a:p>
            <a:pPr algn="l">
              <a:lnSpc>
                <a:spcPts val="444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85847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98733" y="89977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33028" y="2646269"/>
            <a:ext cx="11301259" cy="4478124"/>
          </a:xfrm>
          <a:custGeom>
            <a:avLst/>
            <a:gdLst/>
            <a:ahLst/>
            <a:cxnLst/>
            <a:rect r="r" b="b" t="t" l="l"/>
            <a:pathLst>
              <a:path h="4478124" w="11301259">
                <a:moveTo>
                  <a:pt x="0" y="0"/>
                </a:moveTo>
                <a:lnTo>
                  <a:pt x="11301259" y="0"/>
                </a:lnTo>
                <a:lnTo>
                  <a:pt x="11301259" y="4478123"/>
                </a:lnTo>
                <a:lnTo>
                  <a:pt x="0" y="4478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33028" y="7364453"/>
            <a:ext cx="12590077" cy="1664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Increasing flash pressure reduces H₂ in the absorber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feed w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hile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increas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ing H₂S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in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distil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lation f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eed, creating an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inverse (X-shaped)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trend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• Hi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gher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 in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creases gas 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olubility; H₂S dissolves preferentially into liquid naphtha, while less H₂ flashes to vapor and reaches the absorber.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33028" y="1831962"/>
            <a:ext cx="10674829" cy="10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Flash Drum Pr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es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sur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 Eff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ect</a:t>
            </a:r>
          </a:p>
          <a:p>
            <a:pPr algn="l">
              <a:lnSpc>
                <a:spcPts val="444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85847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98733" y="89977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33028" y="2707177"/>
            <a:ext cx="11301259" cy="4435744"/>
          </a:xfrm>
          <a:custGeom>
            <a:avLst/>
            <a:gdLst/>
            <a:ahLst/>
            <a:cxnLst/>
            <a:rect r="r" b="b" t="t" l="l"/>
            <a:pathLst>
              <a:path h="4435744" w="11301259">
                <a:moveTo>
                  <a:pt x="0" y="0"/>
                </a:moveTo>
                <a:lnTo>
                  <a:pt x="11301259" y="0"/>
                </a:lnTo>
                <a:lnTo>
                  <a:pt x="11301259" y="4435744"/>
                </a:lnTo>
                <a:lnTo>
                  <a:pt x="0" y="443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33028" y="7364453"/>
            <a:ext cx="12590077" cy="335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Increasing purge fraction removes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accumulated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inerts,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rais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ing H₂ purity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in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recycle gas, with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st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eep improvement at low pu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rge valu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• B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eyond ~20%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pu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rge, gain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become minimal due to diminishing returns while hydrogen losses increase.</a:t>
            </a: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33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233028" y="1831962"/>
            <a:ext cx="10674829" cy="10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Recycle H₂ Purity vs. Purg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 Fra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ction</a:t>
            </a:r>
          </a:p>
          <a:p>
            <a:pPr algn="l">
              <a:lnSpc>
                <a:spcPts val="444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85847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98733" y="89977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33028" y="2667458"/>
            <a:ext cx="11301259" cy="4435744"/>
          </a:xfrm>
          <a:custGeom>
            <a:avLst/>
            <a:gdLst/>
            <a:ahLst/>
            <a:cxnLst/>
            <a:rect r="r" b="b" t="t" l="l"/>
            <a:pathLst>
              <a:path h="4435744" w="11301259">
                <a:moveTo>
                  <a:pt x="0" y="0"/>
                </a:moveTo>
                <a:lnTo>
                  <a:pt x="11301259" y="0"/>
                </a:lnTo>
                <a:lnTo>
                  <a:pt x="11301259" y="4435745"/>
                </a:lnTo>
                <a:lnTo>
                  <a:pt x="0" y="4435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33028" y="7364453"/>
            <a:ext cx="12590077" cy="335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H₂S in the overhe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ad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increases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sl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ightly up to ~17 stages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then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reaches a flat pl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eau, showing separation is nearly compl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• B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eyond 17 stages, the column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becomes feed-limited, so additional stages give no improvement in H₂S recovery.</a:t>
            </a: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33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233028" y="1831962"/>
            <a:ext cx="10674829" cy="10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Distillation Stages vs. H₂S R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</a:t>
            </a: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covery</a:t>
            </a:r>
          </a:p>
          <a:p>
            <a:pPr algn="l">
              <a:lnSpc>
                <a:spcPts val="444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93598" y="-183488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38432" y="-1479713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85847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98733" y="89977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25465" y="-1066746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33028" y="3151653"/>
            <a:ext cx="11301259" cy="3983694"/>
          </a:xfrm>
          <a:custGeom>
            <a:avLst/>
            <a:gdLst/>
            <a:ahLst/>
            <a:cxnLst/>
            <a:rect r="r" b="b" t="t" l="l"/>
            <a:pathLst>
              <a:path h="3983694" w="11301259">
                <a:moveTo>
                  <a:pt x="0" y="0"/>
                </a:moveTo>
                <a:lnTo>
                  <a:pt x="11301259" y="0"/>
                </a:lnTo>
                <a:lnTo>
                  <a:pt x="11301259" y="3983694"/>
                </a:lnTo>
                <a:lnTo>
                  <a:pt x="0" y="3983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33028" y="7497297"/>
            <a:ext cx="12809745" cy="166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The composite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curves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how maximum heat recovery between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~40–250°C, w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 hot reactor effluent he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ats th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 feed (HX1), with the pinch around T_hot = 97.5°C and T_cold = 87.5°C</a:t>
            </a:r>
          </a:p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• C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old overshoot at high temperature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r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equires fired heater duty, while hot overshoot at low temperature represents condenser/cooling utility.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3028" y="2222770"/>
            <a:ext cx="10674829" cy="53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Composite Curve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4935" y="1004231"/>
            <a:ext cx="14645665" cy="174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HEAT INTEGRATION &amp; PINCH ANALYSIS</a:t>
            </a:r>
          </a:p>
          <a:p>
            <a:pPr algn="ctr">
              <a:lnSpc>
                <a:spcPts val="7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93598" y="-183488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38432" y="-1479713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66832" y="840833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21999" y="8962091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34966" y="9375058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25465" y="-1066746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33028" y="3383411"/>
            <a:ext cx="12329734" cy="3883866"/>
          </a:xfrm>
          <a:custGeom>
            <a:avLst/>
            <a:gdLst/>
            <a:ahLst/>
            <a:cxnLst/>
            <a:rect r="r" b="b" t="t" l="l"/>
            <a:pathLst>
              <a:path h="3883866" w="12329734">
                <a:moveTo>
                  <a:pt x="0" y="0"/>
                </a:moveTo>
                <a:lnTo>
                  <a:pt x="12329735" y="0"/>
                </a:lnTo>
                <a:lnTo>
                  <a:pt x="12329735" y="3883866"/>
                </a:lnTo>
                <a:lnTo>
                  <a:pt x="0" y="3883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33028" y="7497297"/>
            <a:ext cx="12590077" cy="374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4913" indent="-257457" lvl="1">
              <a:lnSpc>
                <a:spcPts val="3338"/>
              </a:lnSpc>
              <a:buFont typeface="Arial"/>
              <a:buChar char="•"/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GCC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hows a pinch at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~100°C, with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heat su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rplus below the pinch (cooling required) and he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 d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eficit above the pinch (external heating required)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algn="l" marL="514913" indent="-257457" lvl="1">
              <a:lnSpc>
                <a:spcPts val="3338"/>
              </a:lnSpc>
              <a:buFont typeface="Arial"/>
              <a:buChar char="•"/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upper pocket (~150–200°C) indicates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internal heat recovery, while the high-temperature deficit confirms the need for fired heater/HP utility above ~200°C.</a:t>
            </a:r>
          </a:p>
          <a:p>
            <a:pPr algn="l" marL="514913" indent="-257457" lvl="1">
              <a:lnSpc>
                <a:spcPts val="3338"/>
              </a:lnSpc>
              <a:buFont typeface="Arial"/>
              <a:buChar char="•"/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Hot utility required ≈ 1.4 × 10⁶ kJ/h</a:t>
            </a:r>
          </a:p>
          <a:p>
            <a:pPr algn="l" marL="514913" indent="-257457" lvl="1">
              <a:lnSpc>
                <a:spcPts val="3338"/>
              </a:lnSpc>
              <a:buFont typeface="Arial"/>
              <a:buChar char="•"/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Cold utility required ≈ 1.0 × 10⁶ kJ/h</a:t>
            </a:r>
          </a:p>
          <a:p>
            <a:pPr algn="l">
              <a:lnSpc>
                <a:spcPts val="3338"/>
              </a:lnSpc>
            </a:pPr>
          </a:p>
          <a:p>
            <a:pPr algn="l" marL="514913" indent="-257457" lvl="1">
              <a:lnSpc>
                <a:spcPts val="3338"/>
              </a:lnSpc>
              <a:buFont typeface="Arial"/>
              <a:buChar char="•"/>
            </a:pPr>
          </a:p>
          <a:p>
            <a:pPr algn="l" marL="514913" indent="-257457" lvl="1">
              <a:lnSpc>
                <a:spcPts val="3338"/>
              </a:lnSpc>
              <a:buFont typeface="Arial"/>
              <a:buChar char="•"/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233028" y="2461081"/>
            <a:ext cx="10674829" cy="10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Grand Composite Curve</a:t>
            </a:r>
          </a:p>
          <a:p>
            <a:pPr algn="l">
              <a:lnSpc>
                <a:spcPts val="444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821168" y="1282863"/>
            <a:ext cx="14645665" cy="174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HEAT INTEGRATION &amp; PINCH ANALYSIS</a:t>
            </a:r>
          </a:p>
          <a:p>
            <a:pPr algn="ctr">
              <a:lnSpc>
                <a:spcPts val="7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93598" y="-183488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38432" y="-1479713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66832" y="840833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21999" y="8962091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34966" y="9375058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25465" y="-1066746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72518" y="2755124"/>
            <a:ext cx="9704196" cy="4839968"/>
          </a:xfrm>
          <a:custGeom>
            <a:avLst/>
            <a:gdLst/>
            <a:ahLst/>
            <a:cxnLst/>
            <a:rect r="r" b="b" t="t" l="l"/>
            <a:pathLst>
              <a:path h="4839968" w="9704196">
                <a:moveTo>
                  <a:pt x="0" y="0"/>
                </a:moveTo>
                <a:lnTo>
                  <a:pt x="9704196" y="0"/>
                </a:lnTo>
                <a:lnTo>
                  <a:pt x="9704196" y="4839968"/>
                </a:lnTo>
                <a:lnTo>
                  <a:pt x="0" y="4839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72518" y="1987293"/>
            <a:ext cx="10674829" cy="53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317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Pinch Analysis 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1168" y="768754"/>
            <a:ext cx="14645665" cy="174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HEAT INTEGRATION &amp; PINCH ANALYSIS</a:t>
            </a:r>
          </a:p>
          <a:p>
            <a:pPr algn="ctr">
              <a:lnSpc>
                <a:spcPts val="7000"/>
              </a:lnSpc>
            </a:pP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3072518" y="7833217"/>
          <a:ext cx="5910972" cy="1895475"/>
        </p:xfrm>
        <a:graphic>
          <a:graphicData uri="http://schemas.openxmlformats.org/drawingml/2006/table">
            <a:tbl>
              <a:tblPr/>
              <a:tblGrid>
                <a:gridCol w="1477743"/>
                <a:gridCol w="1477743"/>
                <a:gridCol w="1477743"/>
                <a:gridCol w="1477743"/>
              </a:tblGrid>
              <a:tr h="6318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Before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After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Saving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8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Hot utility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4.195 GJ/h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1.148 GJ/h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72.60%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8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Cold utility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3.986 GJ/h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0.939 GJ/h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76.40%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449675" y="7795117"/>
            <a:ext cx="5996823" cy="207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Annual Cost</a:t>
            </a:r>
            <a:r>
              <a:rPr lang="en-US" sz="238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S</a:t>
            </a:r>
            <a:r>
              <a:rPr lang="en-US" sz="238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avings</a:t>
            </a:r>
          </a:p>
          <a:p>
            <a:pPr algn="l" marL="514913" indent="-257457" lvl="1">
              <a:lnSpc>
                <a:spcPts val="3338"/>
              </a:lnSpc>
              <a:buFont typeface="Arial"/>
              <a:buChar char="•"/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red heater fuel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sav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ed: $134,052/year</a:t>
            </a:r>
          </a:p>
          <a:p>
            <a:pPr algn="l" marL="514913" indent="-257457" lvl="1">
              <a:lnSpc>
                <a:spcPts val="3338"/>
              </a:lnSpc>
              <a:buFont typeface="Arial"/>
              <a:buChar char="•"/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ooling water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saved: $1,219/year</a:t>
            </a:r>
          </a:p>
          <a:p>
            <a:pPr algn="l" marL="514913" indent="-257457" lvl="1">
              <a:lnSpc>
                <a:spcPts val="3338"/>
              </a:lnSpc>
              <a:buFont typeface="Arial"/>
              <a:buChar char="•"/>
            </a:pPr>
            <a:r>
              <a:rPr lang="en-US" sz="23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Total: ~$135,000/year</a:t>
            </a:r>
          </a:p>
          <a:p>
            <a:pPr algn="l">
              <a:lnSpc>
                <a:spcPts val="3338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14" id="14"/>
          <p:cNvGraphicFramePr/>
          <p:nvPr/>
        </p:nvGraphicFramePr>
        <p:xfrm>
          <a:off x="14344650" y="2855837"/>
          <a:ext cx="3771900" cy="6286500"/>
        </p:xfrm>
        <a:graphic>
          <a:graphicData uri="http://schemas.openxmlformats.org/presentationml/2006/ole">
            <p:oleObj imgW="5029200" imgH="7543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2057400" y="1230454"/>
            <a:ext cx="1417320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ECONOMIC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431" y="2798687"/>
            <a:ext cx="9000508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Fixed plant design (no process/equipment changes)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Operating time: 8,000 h/year (~91% uptime)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Plant life: 20 years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Depreciation: Straight-line (10 years, no salvage)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Tax rate: 30%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Discount rate: 10%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Maintenance: 3% of CAPEX/year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Insurance &amp; taxes: 1% of CAPEX/year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Stable pricing (no inflation considered)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38336" y="4738548"/>
            <a:ext cx="6698749" cy="59750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64747" y="1230454"/>
            <a:ext cx="955850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233" y="2808212"/>
            <a:ext cx="15105975" cy="866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🔹 Process Performance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Successful simulation of complete Naphtha HDS process in Aspen Plus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Efficient conversion of sulfur compounds to H₂S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🔹 Separation &amp; Recycle Efficiency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Effective removal of H₂S using amine absorption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Hydrogen recovery through recycle loop improves process economy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🔹 Design Justification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PFR ensures high conversion and realistic reactor modeling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High pressure and hydrogen excess enhance reaction performance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🔹 Energy Optimization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Heat integration significantly reduces utility requirements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Pinch analysis highlights potential energy savings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3131" y="3908425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b="true" sz="12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DAHGhsJE4o8</dc:identifier>
  <dcterms:modified xsi:type="dcterms:W3CDTF">2011-08-01T06:04:30Z</dcterms:modified>
  <cp:revision>1</cp:revision>
  <dc:title>petro_final</dc:title>
</cp:coreProperties>
</file>